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ffd08a862a4acf" /><Relationship Type="http://schemas.openxmlformats.org/officeDocument/2006/relationships/extended-properties" Target="/docProps/app.xml" Id="Rd39e12cd4d9442a3" /><Relationship Type="http://schemas.openxmlformats.org/officeDocument/2006/relationships/officeDocument" Target="/ppt/presentation.xml" Id="Rfc1a6b770b0346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2a1bdf6b914189"/>
  </p:sldMasterIdLst>
  <p:notesMasterIdLst>
    <p:notesMasterId xmlns:r="http://schemas.openxmlformats.org/officeDocument/2006/relationships" r:id="R18a911cd87094616"/>
  </p:notesMasterIdLst>
  <p:sldIdLst>
    <p:sldId xmlns:r="http://schemas.openxmlformats.org/officeDocument/2006/relationships" id="256" r:id="R9e96c813fb414b8c"/>
    <p:sldId xmlns:r="http://schemas.openxmlformats.org/officeDocument/2006/relationships" id="257" r:id="R292c7629be134f90"/>
    <p:sldId xmlns:r="http://schemas.openxmlformats.org/officeDocument/2006/relationships" id="258" r:id="Rfe67abd8248044cd"/>
    <p:sldId xmlns:r="http://schemas.openxmlformats.org/officeDocument/2006/relationships" id="259" r:id="Rfe7c4911e1534591"/>
    <p:sldId xmlns:r="http://schemas.openxmlformats.org/officeDocument/2006/relationships" id="260" r:id="R9ce282d68eae40ac"/>
    <p:sldId xmlns:r="http://schemas.openxmlformats.org/officeDocument/2006/relationships" id="261" r:id="Rb57035970ab1498a"/>
    <p:sldId xmlns:r="http://schemas.openxmlformats.org/officeDocument/2006/relationships" id="262" r:id="R9ef473fa87f34cd9"/>
    <p:sldId xmlns:r="http://schemas.openxmlformats.org/officeDocument/2006/relationships" id="263" r:id="R2532bdc480b644d3"/>
    <p:sldId xmlns:r="http://schemas.openxmlformats.org/officeDocument/2006/relationships" id="264" r:id="Rbc0bc270b02b4138"/>
    <p:sldId xmlns:r="http://schemas.openxmlformats.org/officeDocument/2006/relationships" id="265" r:id="R0dd7123ce4eb44f1"/>
    <p:sldId xmlns:r="http://schemas.openxmlformats.org/officeDocument/2006/relationships" id="266" r:id="Rb42cf6b41ef448da"/>
    <p:sldId xmlns:r="http://schemas.openxmlformats.org/officeDocument/2006/relationships" id="267" r:id="R7532a1cf52994a3a"/>
    <p:sldId xmlns:r="http://schemas.openxmlformats.org/officeDocument/2006/relationships" id="268" r:id="Re5fd1d0adf6f4342"/>
    <p:sldId xmlns:r="http://schemas.openxmlformats.org/officeDocument/2006/relationships" id="269" r:id="R5d4203e870fb4ffa"/>
    <p:sldId xmlns:r="http://schemas.openxmlformats.org/officeDocument/2006/relationships" id="270" r:id="R53a4ba61ea054b1c"/>
    <p:sldId xmlns:r="http://schemas.openxmlformats.org/officeDocument/2006/relationships" id="271" r:id="R26e2c5a0b8514b5f"/>
    <p:sldId xmlns:r="http://schemas.openxmlformats.org/officeDocument/2006/relationships" id="272" r:id="R022f9815596b49ab"/>
    <p:sldId xmlns:r="http://schemas.openxmlformats.org/officeDocument/2006/relationships" id="273" r:id="R6aa1943a218149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17255b10bb4fab" /><Relationship Type="http://schemas.openxmlformats.org/officeDocument/2006/relationships/slideMaster" Target="/ppt/slideMasters/slideMaster1.xml" Id="Rdf2a1bdf6b914189" /><Relationship Type="http://schemas.openxmlformats.org/officeDocument/2006/relationships/notesMaster" Target="/ppt/notesMasters/notesMaster1.xml" Id="R18a911cd87094616" /><Relationship Type="http://schemas.openxmlformats.org/officeDocument/2006/relationships/presProps" Target="/ppt/presProps.xml" Id="R174cfa38a4f943fc" /><Relationship Type="http://schemas.openxmlformats.org/officeDocument/2006/relationships/tableStyles" Target="/ppt/tableStyles.xml" Id="R02d3a6e7440742e3" /><Relationship Type="http://schemas.openxmlformats.org/officeDocument/2006/relationships/slide" Target="/ppt/slides/slide1.xml" Id="R9e96c813fb414b8c" /><Relationship Type="http://schemas.openxmlformats.org/officeDocument/2006/relationships/slide" Target="/ppt/slides/slide2.xml" Id="R292c7629be134f90" /><Relationship Type="http://schemas.openxmlformats.org/officeDocument/2006/relationships/slide" Target="/ppt/slides/slide3.xml" Id="Rfe67abd8248044cd" /><Relationship Type="http://schemas.openxmlformats.org/officeDocument/2006/relationships/slide" Target="/ppt/slides/slide4.xml" Id="Rfe7c4911e1534591" /><Relationship Type="http://schemas.openxmlformats.org/officeDocument/2006/relationships/slide" Target="/ppt/slides/slide5.xml" Id="R9ce282d68eae40ac" /><Relationship Type="http://schemas.openxmlformats.org/officeDocument/2006/relationships/slide" Target="/ppt/slides/slide6.xml" Id="Rb57035970ab1498a" /><Relationship Type="http://schemas.openxmlformats.org/officeDocument/2006/relationships/slide" Target="/ppt/slides/slide7.xml" Id="R9ef473fa87f34cd9" /><Relationship Type="http://schemas.openxmlformats.org/officeDocument/2006/relationships/slide" Target="/ppt/slides/slide8.xml" Id="R2532bdc480b644d3" /><Relationship Type="http://schemas.openxmlformats.org/officeDocument/2006/relationships/slide" Target="/ppt/slides/slide9.xml" Id="Rbc0bc270b02b4138" /><Relationship Type="http://schemas.openxmlformats.org/officeDocument/2006/relationships/slide" Target="/ppt/slides/slide10.xml" Id="R0dd7123ce4eb44f1" /><Relationship Type="http://schemas.openxmlformats.org/officeDocument/2006/relationships/slide" Target="/ppt/slides/slide11.xml" Id="Rb42cf6b41ef448da" /><Relationship Type="http://schemas.openxmlformats.org/officeDocument/2006/relationships/slide" Target="/ppt/slides/slide12.xml" Id="R7532a1cf52994a3a" /><Relationship Type="http://schemas.openxmlformats.org/officeDocument/2006/relationships/slide" Target="/ppt/slides/slide13.xml" Id="Re5fd1d0adf6f4342" /><Relationship Type="http://schemas.openxmlformats.org/officeDocument/2006/relationships/slide" Target="/ppt/slides/slide14.xml" Id="R5d4203e870fb4ffa" /><Relationship Type="http://schemas.openxmlformats.org/officeDocument/2006/relationships/slide" Target="/ppt/slides/slide15.xml" Id="R53a4ba61ea054b1c" /><Relationship Type="http://schemas.openxmlformats.org/officeDocument/2006/relationships/slide" Target="/ppt/slides/slide16.xml" Id="R26e2c5a0b8514b5f" /><Relationship Type="http://schemas.openxmlformats.org/officeDocument/2006/relationships/slide" Target="/ppt/slides/slide17.xml" Id="R022f9815596b49ab" /><Relationship Type="http://schemas.openxmlformats.org/officeDocument/2006/relationships/slide" Target="/ppt/slides/slide18.xml" Id="R6aa1943a2181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7cae5555c345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f02783591c47b8" /><Relationship Type="http://schemas.openxmlformats.org/officeDocument/2006/relationships/notesMaster" Target="/ppt/notesMasters/notesMaster1.xml" Id="R727012e4fd6646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6aa1a2ea0545e6" /><Relationship Type="http://schemas.openxmlformats.org/officeDocument/2006/relationships/notesMaster" Target="/ppt/notesMasters/notesMaster1.xml" Id="Rc3f9f76ac64948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0042bae7624da3" /><Relationship Type="http://schemas.openxmlformats.org/officeDocument/2006/relationships/notesMaster" Target="/ppt/notesMasters/notesMaster1.xml" Id="Raa10f31c3fdd48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b03f23466a40c1" /><Relationship Type="http://schemas.openxmlformats.org/officeDocument/2006/relationships/notesMaster" Target="/ppt/notesMasters/notesMaster1.xml" Id="R361c1f47d31449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6822c41a1c4290" /><Relationship Type="http://schemas.openxmlformats.org/officeDocument/2006/relationships/notesMaster" Target="/ppt/notesMasters/notesMaster1.xml" Id="Rd7faa5254a6f40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240c3761994247" /><Relationship Type="http://schemas.openxmlformats.org/officeDocument/2006/relationships/notesMaster" Target="/ppt/notesMasters/notesMaster1.xml" Id="R3948294c089845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1102679bf44e6e" /><Relationship Type="http://schemas.openxmlformats.org/officeDocument/2006/relationships/notesMaster" Target="/ppt/notesMasters/notesMaster1.xml" Id="R9ed6616e7ce04c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f0c4e96d024bdf" /><Relationship Type="http://schemas.openxmlformats.org/officeDocument/2006/relationships/notesMaster" Target="/ppt/notesMasters/notesMaster1.xml" Id="Rcaef81427baa47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72b09572234360" /><Relationship Type="http://schemas.openxmlformats.org/officeDocument/2006/relationships/notesMaster" Target="/ppt/notesMasters/notesMaster1.xml" Id="R3a841782f83c41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1a796945b64fb4" /><Relationship Type="http://schemas.openxmlformats.org/officeDocument/2006/relationships/notesMaster" Target="/ppt/notesMasters/notesMaster1.xml" Id="R3a98cb6196da4c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55497f9b5d4fe1" /><Relationship Type="http://schemas.openxmlformats.org/officeDocument/2006/relationships/notesMaster" Target="/ppt/notesMasters/notesMaster1.xml" Id="R05322f0d76444c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09ea46151149e0" /><Relationship Type="http://schemas.openxmlformats.org/officeDocument/2006/relationships/notesMaster" Target="/ppt/notesMasters/notesMaster1.xml" Id="Rc5106448546940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0b5f1d1b3346f7" /><Relationship Type="http://schemas.openxmlformats.org/officeDocument/2006/relationships/notesMaster" Target="/ppt/notesMasters/notesMaster1.xml" Id="Rfa2fbae9aa604f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087d414d0846fd" /><Relationship Type="http://schemas.openxmlformats.org/officeDocument/2006/relationships/notesMaster" Target="/ppt/notesMasters/notesMaster1.xml" Id="R96a5b5e4ddfa4b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f4b165c8ab4ca6" /><Relationship Type="http://schemas.openxmlformats.org/officeDocument/2006/relationships/notesMaster" Target="/ppt/notesMasters/notesMaster1.xml" Id="R34c484238a1a47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74cb96a72534780" /><Relationship Type="http://schemas.openxmlformats.org/officeDocument/2006/relationships/notesMaster" Target="/ppt/notesMasters/notesMaster1.xml" Id="R90674d9a6f9f403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ad32e748af347cc" /><Relationship Type="http://schemas.openxmlformats.org/officeDocument/2006/relationships/notesMaster" Target="/ppt/notesMasters/notesMaster1.xml" Id="R13a1a1ad71c24b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ed4417012b463e" /><Relationship Type="http://schemas.openxmlformats.org/officeDocument/2006/relationships/notesMaster" Target="/ppt/notesMasters/notesMaster1.xml" Id="R44c5d6b4dea64b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All cover details come from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Implemented lexical retrieval over local .txt/.md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SearchEngine, QueryParser, PhraseNode, RankingEngine and frontend inspectors implement this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Implemented objectives. Tests verify core search and frontend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[1] Manning, Raghavan and Schütze (2008), Introduction to Information Retrieval, https://nlp.stanford.edu/IR-book/ . [2] Robertson and Zaragoza (2009), https://doi.org/10.1561/1500000019 . [3] Burkhard and Keller (1973), https://doi.org/10.1145/362003.362025 . No comparative benchmark against commercial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LocalServer serves HTML/CSS/JavaScript and the real Java engine. Uploads add to current collection. Opening a collection replaces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Editable architecture diagram. Files feed Tokenizer and InvertedIndex. The frontend sends requests to LocalServer, which calls SearchEngine. QueryParser creates the AST and matcher uses indexed postings. RankingEngine applies BM25 and a bounded min-heap. Trie and BKTree assist user input. Arrows describe data flow, not network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BM25 k1=1.2, b=0.75. Intersection worst case O(L1+L2). Heap selection O(M log K), excluding scoring and final K sort. Trie O(P) to reach prefix plus enumeration. BK-Tree can visit all vocabulary terms. Levenshtein DP O(a*b) time. Skip pointers help some traversals without changing worst-case bound.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No external runtime libraries, framework, or database. JDK16 feature basis: records, instanceof patterns and Stream.toList. https://docs.oracle.com/en/java/javase/17/migrate/significant-changes-jdk-release.html . Files.readString and walkFileTree: https://docs.oracle.com/en/java/javase/17/docs/api/java.base/java/nio/file/Files.html . Tested Windows, Microsoft OpenJDK21.0.12.1.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Frontend files: index.html, styles.css, app.js, favicon.svg. LocalServer and Json use Java Standard Library. start-web.ps1 compiles src and launches port8765 by default. Existing CLI remains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Actual browser capture on the local server. Collection status5 documents5624terms128471tokens. Search connection top3 IDs4,5,2 scores0.1907,0.1900,0.1876. All5candidate documents considered;2root replacements. Displayed elapsed0.15ms measures engine search in one run, excluding network/render. No repeated timing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Counts represent test methods (Phase1=3,Phase2=5,Phase3=4,Phase4=2,Phase5=3,LiveIngestion=5). FrontendVerificationTest contains6groups with multiple assertions. All suites passed with java -ea. Browser checks: RFC collection switch, connection search, AST and heap/postings tabs, spell conection-&gt;connection, desktop/mobile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Supported advantages from implementation. No production scale or speed comparison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Academic and local-document use cases. No external deployment or users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Resolved changes verified in LiveIngestionVerificationTest and FrontendVerificationTest. InvertedIndex validates monotonic IDs before mutation, getDocumentIds supports sparseIDs, parser rejects malformed expressions. Existing memory and repeated skip rebuild cost remain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Proposals only. Persistence, edit/delete, PDF/OCR and query-centered snippets are not implemented. Current snippets show document prefixes. No semantic AI feature needed for current DSA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Conclusion bounded by local verification and included datasets. No scalable production deployment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Java source and datasets at C:/Users/EREN/SmartSearchEngine. Local verification with assertions enabled, Microsoft OpenJDK 21.0.12.1. Team and institution details confirmed by the user.</a:t>
            </a:r>
          </a:p>
          <a:p xmlns:a="http://schemas.openxmlformats.org/drawingml/2006/main">
            <a:r>
              <a:t>[1] https://nlp.stanford.edu/IR-book/</a:t>
            </a:r>
          </a:p>
          <a:p xmlns:a="http://schemas.openxmlformats.org/drawingml/2006/main">
            <a:r>
              <a:t>[2] https://doi.org/10.1561/1500000019</a:t>
            </a:r>
          </a:p>
          <a:p xmlns:a="http://schemas.openxmlformats.org/drawingml/2006/main">
            <a:r>
              <a:t>[3] https://doi.org/10.1145/362003.362025</a:t>
            </a:r>
          </a:p>
          <a:p xmlns:a="http://schemas.openxmlformats.org/drawingml/2006/main">
            <a:r>
              <a:t>https://docs.oracle.com/en/java/javase/17/docs/api/java.base/java/nio/file/Files.html</a:t>
            </a:r>
          </a:p>
          <a:p xmlns:a="http://schemas.openxmlformats.org/drawingml/2006/main">
            <a:r>
              <a:t>https://docs.oracle.com/en/java/javase/17/migrate/significant-changes-jdk-release.html</a:t>
            </a:r>
          </a:p>
          <a:p xmlns:a="http://schemas.openxmlformats.org/drawingml/2006/main">
            <a:r>
              <a:t>Original Review2 PowerPoint at C:/Users/EREN/Documents/College/2-1/DSA/Project/Smart_Document_Search_System Review 2.pptx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ad7ebf2ab41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b48d187a3a4c1a" /><Relationship Type="http://schemas.openxmlformats.org/officeDocument/2006/relationships/slideLayout" Target="/ppt/slideLayouts/slideLayout1.xml" Id="Rdbcc2f567e154c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cc2f567e154c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696e20f044e67" /><Relationship Type="http://schemas.openxmlformats.org/officeDocument/2006/relationships/notesSlide" Target="/ppt/notesSlides/notesSlide1.xml" Id="R984724a4a80a4f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aa1f18b7b4de5" /><Relationship Type="http://schemas.openxmlformats.org/officeDocument/2006/relationships/notesSlide" Target="/ppt/notesSlides/notesSlide2.xml" Id="R44934cc1af4a40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ca8a204bb40d6" /><Relationship Type="http://schemas.openxmlformats.org/officeDocument/2006/relationships/notesSlide" Target="/ppt/notesSlides/notesSlide3.xml" Id="Re6c7b6842bf240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c7f51e6b04a9b" /><Relationship Type="http://schemas.openxmlformats.org/officeDocument/2006/relationships/notesSlide" Target="/ppt/notesSlides/notesSlide4.xml" Id="R669171b35e7a4b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1d4072901452f" /><Relationship Type="http://schemas.openxmlformats.org/officeDocument/2006/relationships/notesSlide" Target="/ppt/notesSlides/notesSlide5.xml" Id="R6b736c56825d46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6e01c0f5f4573" /><Relationship Type="http://schemas.openxmlformats.org/officeDocument/2006/relationships/notesSlide" Target="/ppt/notesSlides/notesSlide6.xml" Id="R37139ede99de43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0646ad6074b6e" /><Relationship Type="http://schemas.openxmlformats.org/officeDocument/2006/relationships/notesSlide" Target="/ppt/notesSlides/notesSlide7.xml" Id="R8e497739453540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cdbb43cd845fa" /><Relationship Type="http://schemas.openxmlformats.org/officeDocument/2006/relationships/notesSlide" Target="/ppt/notesSlides/notesSlide8.xml" Id="Ra1046e152c0c46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ef50ef9db451d" /><Relationship Type="http://schemas.openxmlformats.org/officeDocument/2006/relationships/notesSlide" Target="/ppt/notesSlides/notesSlide9.xml" Id="R3afce9c0a8ae48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b97769d884abc" /><Relationship Type="http://schemas.openxmlformats.org/officeDocument/2006/relationships/notesSlide" Target="/ppt/notesSlides/notesSlide10.xml" Id="Rb8b583ecd39d47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dfc6bdf3e42c8" /><Relationship Type="http://schemas.openxmlformats.org/officeDocument/2006/relationships/image" Target="/ppt/media/image.jpeg" Id="R0ae2c215080348cd" /><Relationship Type="http://schemas.openxmlformats.org/officeDocument/2006/relationships/notesSlide" Target="/ppt/notesSlides/notesSlide11.xml" Id="R9604b6077ec141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9b1d1f4414661" /><Relationship Type="http://schemas.openxmlformats.org/officeDocument/2006/relationships/notesSlide" Target="/ppt/notesSlides/notesSlide12.xml" Id="Rf28ebae8c19a45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af5716ebd4e34" /><Relationship Type="http://schemas.openxmlformats.org/officeDocument/2006/relationships/notesSlide" Target="/ppt/notesSlides/notesSlide13.xml" Id="Rb1eaadcfe56f47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4c2f18b394fcf" /><Relationship Type="http://schemas.openxmlformats.org/officeDocument/2006/relationships/notesSlide" Target="/ppt/notesSlides/notesSlide14.xml" Id="Rcbaaec4ab8814a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da8e760654250" /><Relationship Type="http://schemas.openxmlformats.org/officeDocument/2006/relationships/notesSlide" Target="/ppt/notesSlides/notesSlide15.xml" Id="Rd59ee8820a4740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df1ac38664da8" /><Relationship Type="http://schemas.openxmlformats.org/officeDocument/2006/relationships/notesSlide" Target="/ppt/notesSlides/notesSlide16.xml" Id="Rf37bad8e66d84b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4f31c2e874f55" /><Relationship Type="http://schemas.openxmlformats.org/officeDocument/2006/relationships/notesSlide" Target="/ppt/notesSlides/notesSlide17.xml" Id="Rf3dba1a591b641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a422a4cf24d4f" /><Relationship Type="http://schemas.openxmlformats.org/officeDocument/2006/relationships/notesSlide" Target="/ppt/notesSlides/notesSlide18.xml" Id="R5f76637f1b8342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B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68EED-BD9D-43DC-BA9B-C5044097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E2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6E2FF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6D38F-C0F4-4B1A-9036-669FDB8E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Smart Document Search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BF1B8-BD16-4B57-840C-251C0483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6E2FF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D6E2FF"/>
                </a:solidFill>
                <a:latin typeface="Calibri"/>
                <a:ea typeface="Calibri"/>
                <a:cs typeface="Calibri"/>
              </a:rPr>
              <a:t>A Java search engine with a browser 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10954-CFBE-4D83-981E-6A1E947B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Nishok     2510030201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Sharan     2510039435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0EF41-BC34-4CF4-B691-BCBEF56F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52775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Vasthav         2510030297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Aman Pasha  2501130428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41BF4-7078-40DF-9AF3-0FDF6D34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Guide: Dr. Anitha 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6C898-6328-443F-A29B-73060663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Computer Science and Engineering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KLH Aziz Nagar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E667F-8E54-4247-8D09-FD82F5EA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 / 18</a:t>
            </a:r>
          </a:p>
        </p:txBody>
      </p:sp>
    </p:spTree>
    <p:extLst>
      <p:ext uri="{BB962C8B-B14F-4D97-AF65-F5344CB8AC3E}">
        <p14:creationId xmlns:p14="http://schemas.microsoft.com/office/powerpoint/2010/main" val="719805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2AE5C-160B-4C18-BCFE-3BF659C7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B0D2C-FAA7-4CEC-87B2-5948319B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B232B-6EF2-4A02-BD44-D5E7CF2A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02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715D-190A-48EF-B6EE-BA6E9B30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Background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90299-CF3C-4F71-8B31-9BAC9E91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Reading every file again for each search repeats the same work. An index stores where each word appears.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23B00-D4AC-474A-BFF3-057F7769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Need for the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C2438-C8C9-431C-A363-775E2FB3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Users need a simple way to find relevant documents and handle phrases or spelling mistakes.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3D1BC-1E3B-4370-8475-041AF041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DSA focus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139EE-5E0E-4C97-A925-6EBD13FF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The project connects classroom data structures to a working document search system.</a:t>
            </a:r>
          </a:p>
        </p:txBody>
      </p:sp>
    </p:spTree>
    <p:extLst>
      <p:ext uri="{BB962C8B-B14F-4D97-AF65-F5344CB8AC3E}">
        <p14:creationId xmlns:p14="http://schemas.microsoft.com/office/powerpoint/2010/main" val="2053628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81D5F-4531-4E06-BC6E-520AB2EF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0CDFF-FF2F-4692-A7FC-5AFB0895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9E2BF-0DA2-417D-A0F1-2F117528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03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449A4-EDEE-4D4D-9B17-4D7F01CE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Document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D7F81-F90C-4645-B878-C1477DB2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Find files that match words, Boolean expressions, or exact phrases.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5C711-778F-48E5-B267-EF205B1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Useful result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91559-7AAA-41BF-A985-F5FABEA6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Show the most relevant matching documents first, with a chosen result limit.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E6496-D31E-49F6-BC76-4103F70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Learning 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5BA75-75F2-4272-B6FD-3B8746D8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Make the index, query tree, and heap decisions visible so users can understand the DSA behind search.</a:t>
            </a:r>
          </a:p>
        </p:txBody>
      </p:sp>
    </p:spTree>
    <p:extLst>
      <p:ext uri="{BB962C8B-B14F-4D97-AF65-F5344CB8AC3E}">
        <p14:creationId xmlns:p14="http://schemas.microsoft.com/office/powerpoint/2010/main" val="16044928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E554A-C36A-443E-AD76-1AD14276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E1652-1010-4352-A638-CFBFF10F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A64FD-CEC7-4985-9F57-A02EE970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04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C99E9-0FE7-4117-9FFA-5F65C771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Build the index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EB423-23DB-4FF6-8503-D7F8E770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Use a HashMap and linked posting lists to store document IDs and word positions.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96F88-FC0C-47ED-B1DA-17101B4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Search and assist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C5AE7-C2E3-442F-92BC-3A12B756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Support Boolean and phrase queries, Trie autocomplete, and BK-Tree spelling suggestions.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93938-8646-467C-9EAB-C0B6EFA3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Rank and demonstrate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509FE-F1B9-4204-A6EA-3DD34838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Use BM25 with a bounded min-heap. Provide a frontend that displays the actual DSA structures.</a:t>
            </a:r>
          </a:p>
        </p:txBody>
      </p:sp>
    </p:spTree>
    <p:extLst>
      <p:ext uri="{BB962C8B-B14F-4D97-AF65-F5344CB8AC3E}">
        <p14:creationId xmlns:p14="http://schemas.microsoft.com/office/powerpoint/2010/main" val="2630779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C5A3B-64D2-477B-9ED3-2607C1D8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117E0-BFF3-433F-ABA7-3D6F84C1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Literature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7C3AD-27DE-48F3-A47D-6FE30489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05 / 18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1924050"/>
          <a:ext xmlns:a="http://schemas.openxmlformats.org/drawingml/2006/main" cx="10668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3619500"/>
                <a:gridCol w="4238625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Existing approach</a:t>
                      </a:r>
                    </a:p>
                  </a:txBody>
                  <a:tcPr marL="91440" marR="91440" marT="45720" marB="45720">
                    <a:solidFill>
                      <a:srgbClr val="202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Main idea</a:t>
                      </a:r>
                    </a:p>
                  </a:txBody>
                  <a:tcPr marL="91440" marR="91440" marT="45720" marB="45720">
                    <a:solidFill>
                      <a:srgbClr val="202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Limit or trade-off</a:t>
                      </a:r>
                    </a:p>
                  </a:txBody>
                  <a:tcPr marL="91440" marR="91440" marT="45720" marB="45720">
                    <a:solidFill>
                      <a:srgbClr val="202B6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Sequential file search</a:t>
                      </a:r>
                    </a:p>
                  </a:txBody>
                  <a:tcPr marL="91440" marR="91440" marT="45720" marB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Read files for every query</a:t>
                      </a:r>
                    </a:p>
                  </a:txBody>
                  <a:tcPr marL="91440" marR="91440" marT="45720" marB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Repeats work across searches</a:t>
                      </a:r>
                    </a:p>
                  </a:txBody>
                  <a:tcPr marL="91440" marR="91440" marT="45720" marB="45720">
                    <a:solidFill>
                      <a:srgbClr val="F2F5FC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Inverted index [1]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Store term postings and positions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Needs extra memory and updates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BM25 ranking [2]</a:t>
                      </a:r>
                    </a:p>
                  </a:txBody>
                  <a:tcPr marL="91440" marR="91440" marT="45720" marB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Score lexical relevance</a:t>
                      </a:r>
                    </a:p>
                  </a:txBody>
                  <a:tcPr marL="91440" marR="91440" marT="45720" marB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Does not understand meaning</a:t>
                      </a:r>
                    </a:p>
                  </a:txBody>
                  <a:tcPr marL="91440" marR="91440" marT="45720" marB="45720">
                    <a:solidFill>
                      <a:srgbClr val="F2F5FC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BK-Tree search [3]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Prune by edit distance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Worst case may visit all terms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0C21E-B6C3-4E02-AFC6-3058654A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This project implements these ideas directly for a DSA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967543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FDB01-E7AC-4B68-99D9-3AC80462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BFB6C-DAAE-4600-B570-98E4F480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Proposed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37972-EAB8-4CEA-AE34-E06336EB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06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B27CA-252B-42BA-B51A-74938709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B932B-3682-482B-9E12-E29F19D6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Add text or Markdown files, open a local folder, or choose a built-in collection.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A7776-D1B4-4F4E-9396-3FC54865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Search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12B07-2F88-4A4E-A6A7-C9B316C8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The Java engine matches documents using an index, then ranks matches with BM25 and a min-heap.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3C49C-FE36-40DC-8449-13396381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Frontend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643F6-7313-4B6C-8D09-2A13CF17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View ranked results and complete documents. Inspect postings, the query AST, and Top-K decisions.</a:t>
            </a:r>
          </a:p>
        </p:txBody>
      </p:sp>
    </p:spTree>
    <p:extLst>
      <p:ext uri="{BB962C8B-B14F-4D97-AF65-F5344CB8AC3E}">
        <p14:creationId xmlns:p14="http://schemas.microsoft.com/office/powerpoint/2010/main" val="273297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5A6AC-ABFE-40D3-8DD9-2FCC6D2F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85E8E-5AC4-40B8-A5C1-C7E3135B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0CF92-B58C-4CED-A4E3-4C521560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07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03D9A-82C2-4C00-B18F-1BC9C3EC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047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C"/>
          </a:solidFill>
          <a:ln xmlns:a="http://schemas.openxmlformats.org/drawingml/2006/main" w="9525">
            <a:solidFill>
              <a:srgbClr val="CBD6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Files</a:t>
            </a:r>
          </a:p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.txt / 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995C3-3F91-484F-AFC4-0EC818A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C"/>
          </a:solidFill>
          <a:ln xmlns:a="http://schemas.openxmlformats.org/drawingml/2006/main" w="9525">
            <a:solidFill>
              <a:srgbClr val="CBD6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Tokenizer</a:t>
            </a:r>
          </a:p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Word positions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D2C04-2184-4A32-B51A-A03B649C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C"/>
          </a:solidFill>
          <a:ln xmlns:a="http://schemas.openxmlformats.org/drawingml/2006/main" w="9525">
            <a:solidFill>
              <a:srgbClr val="CBD6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Index</a:t>
            </a:r>
          </a:p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HashMap + postings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FE3E0-B78A-4329-A875-DB53F7BC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047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C"/>
          </a:solidFill>
          <a:ln xmlns:a="http://schemas.openxmlformats.org/drawingml/2006/main" w="9525">
            <a:solidFill>
              <a:srgbClr val="CBD6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Browser 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ED084-9DD2-4CFE-B4C2-5222790D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C"/>
          </a:solidFill>
          <a:ln xmlns:a="http://schemas.openxmlformats.org/drawingml/2006/main" w="9525">
            <a:solidFill>
              <a:srgbClr val="CBD6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Local Java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224D6-C1F3-40A9-A3BF-F413A6B2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814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C"/>
          </a:solidFill>
          <a:ln xmlns:a="http://schemas.openxmlformats.org/drawingml/2006/main" w="9525">
            <a:solidFill>
              <a:srgbClr val="CBD6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Query parser</a:t>
            </a:r>
          </a:p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Stacks + 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12FD9-526F-471D-976A-34C5DCCD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047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C"/>
          </a:solidFill>
          <a:ln xmlns:a="http://schemas.openxmlformats.org/drawingml/2006/main" w="9525">
            <a:solidFill>
              <a:srgbClr val="CBD6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Trie / BK-Tree</a:t>
            </a:r>
          </a:p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Query suggestions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7442C-79CA-4A23-8972-74F0610B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625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C"/>
          </a:solidFill>
          <a:ln xmlns:a="http://schemas.openxmlformats.org/drawingml/2006/main" w="9525">
            <a:solidFill>
              <a:srgbClr val="CBD6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Ranked results</a:t>
            </a:r>
          </a:p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BM25 + min-heap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A945F-3504-49AF-8645-82E76664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6255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C"/>
          </a:solidFill>
          <a:ln xmlns:a="http://schemas.openxmlformats.org/drawingml/2006/main" w="9525">
            <a:solidFill>
              <a:srgbClr val="CBD6F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Boolean / phrase</a:t>
            </a:r>
          </a:p>
          <a:p xmlns:a="http://schemas.openxmlformats.org/drawingml/2006/main">
            <a:pPr>
              <a:defRPr sz="1875" b="1">
                <a:solidFill>
                  <a:srgbClr val="202B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2B63"/>
                </a:solidFill>
                <a:latin typeface="Calibri"/>
                <a:ea typeface="Calibri"/>
                <a:cs typeface="Calibri"/>
              </a:rPr>
              <a:t>Matching documents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C6328-DF60-4355-9978-5ED8A4E0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002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B3882-2058-46B2-8A68-596C3ECF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2002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F18A3-4FE7-4E98-BC54-6EEB4421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81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C1096-AD6C-4102-A238-CF874198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7814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C24FD-EB0D-4193-867F-44899DD9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720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5C676-164D-4DA5-90BA-008A0C07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3625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E4CFA-83D2-4D1E-A3BD-02AE09FF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6CFF5-92F7-4626-95F8-81A7F332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03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Matching uses this index</a:t>
            </a:r>
          </a:p>
        </p:txBody>
      </p:sp>
    </p:spTree>
    <p:extLst>
      <p:ext uri="{BB962C8B-B14F-4D97-AF65-F5344CB8AC3E}">
        <p14:creationId xmlns:p14="http://schemas.microsoft.com/office/powerpoint/2010/main" val="1473695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3B7A0-892F-49AE-889D-2CB0DC8C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41CE2-64D8-4195-BA07-4F081C9C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CBE24-8535-4A73-94BC-B862D904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08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74945-6327-4A57-B981-231489B9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1. Prepare documents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09C8B-0683-480D-BD67-AEA15040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Read files, convert text to lowercase tokens, and store each word position in the index.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BCAC5-BF52-425C-ABF9-9C103D5C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2. Match the 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DE003-ABB0-4D5C-B6F2-E6E4A487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Use Shunting-Yard stacks to build an AST. Merge postings for Boolean queries and check positions for phrases.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9969E-095C-49EB-8297-31CCB0D3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3. Rank and assist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87673-FBCE-4D96-B47B-935D9778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Score matches with BM25. Keep the best K in a min-heap. Use Trie and edit-distance tree search for suggestions.</a:t>
            </a:r>
          </a:p>
        </p:txBody>
      </p:sp>
    </p:spTree>
    <p:extLst>
      <p:ext uri="{BB962C8B-B14F-4D97-AF65-F5344CB8AC3E}">
        <p14:creationId xmlns:p14="http://schemas.microsoft.com/office/powerpoint/2010/main" val="12205586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C3140-1503-4F05-886C-1D1C1CDA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E86FE-BC38-42E9-9FB9-75F07D96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Tools &amp; Technologies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D9B68-0990-4E4C-A3B6-2823D289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09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CD1C4-A803-4286-8F1B-4E8D9939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Programming languages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1E8E4-9FE5-46E8-B215-EC8390E4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Java for the engine and local server. HTML, CSS, and JavaScript for the browser interface.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89EDD-9838-4528-93B1-CFEBC891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Software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0FE8A-4127-44B9-A929-875E6B80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JDK 16+ features. Full build tested on OpenJDK 21. PowerShell starts the app, and a browser displays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B229F-8A0B-4E49-8823-F7FBF11E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Hardware and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DA87C-C915-494F-97BE-A681C4FE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A computer with enough RAM for the selected files. The index and full documents stay in memory. No tested minimum RAM or processor is established.</a:t>
            </a:r>
          </a:p>
        </p:txBody>
      </p:sp>
    </p:spTree>
    <p:extLst>
      <p:ext uri="{BB962C8B-B14F-4D97-AF65-F5344CB8AC3E}">
        <p14:creationId xmlns:p14="http://schemas.microsoft.com/office/powerpoint/2010/main" val="13665087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B74B0-DE70-450B-A9C1-A17D9000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0A077-3387-433E-8D45-51370939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44E33-BD6D-4CA3-9A6F-B7ADDD72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10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4C31B-C9E2-4460-AB5A-3BC34548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Indexing modules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79F14-28DE-4A0F-B386-D16D1464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CorpusIngestor and Tokenizer read files. InvertedIndex stores postings. Trie and BKTree store the vocabulary.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3B9A8-D8F1-418E-A132-169910FA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Search modules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9F9ED-C0BF-462B-A6B7-78DA0216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QueryParser creates the AST. Boolean nodes and PhraseNode find matches. RankingEngine selects and orders the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4BFBE-D1AC-4C6B-93EB-42CC3A41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Frontend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A5373-8EF4-4E9C-8387-24BA88A1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LocalServer connects browser requests to SearchEngine. The interface shows real results and structure snapshots. Start with .\start-web.ps1.</a:t>
            </a:r>
          </a:p>
        </p:txBody>
      </p:sp>
    </p:spTree>
    <p:extLst>
      <p:ext uri="{BB962C8B-B14F-4D97-AF65-F5344CB8AC3E}">
        <p14:creationId xmlns:p14="http://schemas.microsoft.com/office/powerpoint/2010/main" val="12801527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065EB-EE02-4ED8-A20C-A162B853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BBE01-7DF7-48FE-AEFF-6B121761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Results and Screenshots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4D90C-BA5D-4EAF-BBCB-6D5F213F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11 / 18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2c215080348cd"/>
          <a:stretch xmlns:a="http://schemas.openxmlformats.org/drawingml/2006/main"/>
        </p:blipFill>
        <p:spPr>
          <a:xfrm xmlns:a="http://schemas.openxmlformats.org/drawingml/2006/main">
            <a:off x="994513" y="1809750"/>
            <a:ext cx="6583475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F8954-2674-4F8E-B11E-58A55A67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RFC collection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E7CAD-DC32-4A66-9597-FCB07510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24125"/>
            <a:ext cx="314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5 documents</a:t>
            </a:r>
          </a:p>
          <a:p xmlns:a="http://schemas.openxmlformats.org/drawingml/2006/main">
            <a:pPr>
              <a:defRPr sz="1875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5,624 unique terms</a:t>
            </a:r>
          </a:p>
          <a:p xmlns:a="http://schemas.openxmlformats.org/drawingml/2006/main">
            <a:pPr>
              <a:defRPr sz="1875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128,471 word positions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38165-723B-4A68-B77D-054199D4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Query: connection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F9402-4BC0-42AA-8FB9-003D7B73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67225"/>
            <a:ext cx="3219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5 matches, Top K = 3</a:t>
            </a:r>
          </a:p>
          <a:p xmlns:a="http://schemas.openxmlformats.org/drawingml/2006/main">
            <a:pPr>
              <a:defRPr sz="1875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Heap replaced 2 roots</a:t>
            </a:r>
          </a:p>
          <a:p xmlns:a="http://schemas.openxmlformats.org/drawingml/2006/main">
            <a:pPr>
              <a:defRPr sz="1875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Highest BM25: 0.1907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C9092-C884-44AF-B549-5E6D800B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810250"/>
            <a:ext cx="328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One local run showed 0.15 ms.</a:t>
            </a:r>
          </a:p>
          <a:p xmlns:a="http://schemas.openxmlformats.org/drawingml/2006/main">
            <a:pPr>
              <a:defRPr sz="1425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This is not a benchmark.</a:t>
            </a:r>
          </a:p>
        </p:txBody>
      </p:sp>
    </p:spTree>
    <p:extLst>
      <p:ext uri="{BB962C8B-B14F-4D97-AF65-F5344CB8AC3E}">
        <p14:creationId xmlns:p14="http://schemas.microsoft.com/office/powerpoint/2010/main" val="16594193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A015B-D723-4CAC-B78A-E78BB070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D9979-8B59-4EF5-ACD9-C7308307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49967-1DB2-41FC-AD43-BB8C52A8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12 / 18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1933575"/>
          <a:ext xmlns:a="http://schemas.openxmlformats.org/drawingml/2006/main" cx="106680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3714750"/>
                <a:gridCol w="1905000"/>
              </a:tblGrid>
              <a:tr h="6553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 area</a:t>
                      </a:r>
                    </a:p>
                  </a:txBody>
                  <a:tcPr marL="91440" marR="91440" marT="45720" marB="45720">
                    <a:solidFill>
                      <a:srgbClr val="202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Checks or groups</a:t>
                      </a:r>
                    </a:p>
                  </a:txBody>
                  <a:tcPr marL="91440" marR="91440" marT="45720" marB="45720">
                    <a:solidFill>
                      <a:srgbClr val="202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202B63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Indexing and Boolean search</a:t>
                      </a:r>
                    </a:p>
                  </a:txBody>
                  <a:tcPr marL="91440" marR="91440" marT="45720" marB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8 original checks</a:t>
                      </a:r>
                    </a:p>
                  </a:txBody>
                  <a:tcPr marL="91440" marR="91440" marT="45720" marB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2F5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Phrases, ranking, suggestions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9 original checks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Repeated live ingestion</a:t>
                      </a:r>
                    </a:p>
                  </a:txBody>
                  <a:tcPr marL="91440" marR="91440" marT="45720" marB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5 regression checks</a:t>
                      </a:r>
                    </a:p>
                  </a:txBody>
                  <a:tcPr marL="91440" marR="91440" marT="45720" marB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2F5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Frontend and API integration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6 verification groups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B3B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827B2-2E37-430F-990A-6458E75A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Test cases include malformed queries, sparse IDs, upload/search,</a:t>
            </a:r>
          </a:p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collection switching, heap decisions, and rejected inputs.</a:t>
            </a:r>
          </a:p>
        </p:txBody>
      </p:sp>
    </p:spTree>
    <p:extLst>
      <p:ext uri="{BB962C8B-B14F-4D97-AF65-F5344CB8AC3E}">
        <p14:creationId xmlns:p14="http://schemas.microsoft.com/office/powerpoint/2010/main" val="2825130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38CA6-3093-4600-83BC-810734BF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34199-19B2-40F5-81E8-5A60985C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Advantages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A1B27-932E-48CE-8517-BBA12D10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13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B3C90-9D18-4ABB-9A45-73CBF9C4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Reusable search index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02EA4-096E-4DC7-BA0A-7BEAA256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Queries reuse stored postings and word positions instead of rereading all 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FD15D-CB98-43AF-AF37-4101A09B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Clear DSA demonstration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22E82-1020-4802-8835-FFA0A0C8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The frontend helps users see how linked lists, stacks, trees, and heaps support search.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6C51B-AA78-4AAF-8EAD-6F27F0B5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Simple local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94B39-E314-42E4-8DD5-85765E30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The app runs locally with Java and a browser. Users can add their own text and Markdown documents.</a:t>
            </a:r>
          </a:p>
        </p:txBody>
      </p:sp>
    </p:spTree>
    <p:extLst>
      <p:ext uri="{BB962C8B-B14F-4D97-AF65-F5344CB8AC3E}">
        <p14:creationId xmlns:p14="http://schemas.microsoft.com/office/powerpoint/2010/main" val="11059940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72B0C-257C-4902-AA65-94D0E150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998D5-E8C6-4F63-BD6D-2BD515F2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96F6B-AFE9-4DCB-8C93-E9A72CE2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14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A3444-CD6E-4955-B0DC-07C4F78F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DSA classroom demonstrations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1EF3C-348D-46C2-BAEE-06684D32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Explain data structures using real queries and visible search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7D51D-94A3-4741-8D96-C5B1F046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Study notes and project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936B8-5D43-4EA7-BBDE-C3DD91AC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Search a local collection of text or Markdown notes.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E749B-C33C-46FC-BE07-98AEB7F4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Technical document exploration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F1A08-DD5F-459C-8C91-47094E33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Find words and phrases in the included RFC collection. Other local text collections are possible uses.</a:t>
            </a:r>
          </a:p>
        </p:txBody>
      </p:sp>
    </p:spTree>
    <p:extLst>
      <p:ext uri="{BB962C8B-B14F-4D97-AF65-F5344CB8AC3E}">
        <p14:creationId xmlns:p14="http://schemas.microsoft.com/office/powerpoint/2010/main" val="1618487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EB803-1AA9-448F-97A2-96C049C0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103E5-7EB4-41B4-BFFB-13AE2CD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Challenges Faced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89DB5-40EF-49AA-B848-D78D4FA7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15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FB50A-242C-41A4-8DF6-33875307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Document ID ordering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FAC35-2EDF-4F50-AF06-83B839AF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Posting lists need increasing IDs. Sequential allocation now supports repeated additions and avoids ID collisions.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25BD4-8B9F-4067-A7AF-04A9D865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Query parsing errors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23252-02E8-4B96-AF20-18CB6765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Implicit AND, unary NOT, and malformed inputs needed careful handling. The parser now uses actual stored IDs for NOT.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41D9E-C99C-4401-BE5F-23A9EB70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Showing real DSA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9085A-14A0-4614-BAA7-0CBB3612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The frontend needs engine data. Search responses now include the actual AST, posting snapshots, and heap selection trace.</a:t>
            </a:r>
          </a:p>
        </p:txBody>
      </p:sp>
    </p:spTree>
    <p:extLst>
      <p:ext uri="{BB962C8B-B14F-4D97-AF65-F5344CB8AC3E}">
        <p14:creationId xmlns:p14="http://schemas.microsoft.com/office/powerpoint/2010/main" val="151637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6B80D-D488-46C3-90F5-201D8036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DBDCA-6937-4681-B522-46559438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Future Enhancements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2DEBB-38BB-4317-BEB9-7A55FED7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16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65C75-AC2E-48CF-81D3-A2ACB43F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Save and update the index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C0370-B28D-4A0C-ACB6-276B3AE9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Add persistent storage so users can keep the index after closing the app. Support document edits and deletion.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41180-92F5-4E25-B38B-93A6E959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Improve efficiency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72089-3608-444A-AC3E-54F509A6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Reduce repeated posting scans during BM25 scoring. Measure larger collections and optimize skip-pointer rebuilds.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7F1DC-C77A-436D-AFFD-AC605B93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Expand supported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AA629-47FC-4331-B834-3E33A3D4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Consider PDF extraction and OCR. Improve snippets to show the text around the matching words.</a:t>
            </a:r>
          </a:p>
        </p:txBody>
      </p:sp>
    </p:spTree>
    <p:extLst>
      <p:ext uri="{BB962C8B-B14F-4D97-AF65-F5344CB8AC3E}">
        <p14:creationId xmlns:p14="http://schemas.microsoft.com/office/powerpoint/2010/main" val="14705690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02B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B2FA3-14CC-4A4A-810E-9CDCAF86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E2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D6E2FF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62DA5-C2A5-4142-9880-87FCA3AA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23DF9-EB11-4180-BDAE-DD274C45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07A12-6307-4E55-BFCD-C37C949B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66925"/>
            <a:ext cx="10477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8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working document search system</a:t>
            </a:r>
          </a:p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8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built around DSA 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5A7C3-448C-42DB-8089-12158052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Java engine supports Boolean and phrase search, BM25 ranking, prefix completion, and spelling suggestions.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DB68A-767F-43AF-874E-60EC17C3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browser frontend displays real results and the data structures behind them. The verification suites pass.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48672-594A-4822-86E0-BB7F86B3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721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6E2FF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6E2FF"/>
                </a:solidFill>
                <a:latin typeface="Calibri"/>
                <a:ea typeface="Calibri"/>
                <a:cs typeface="Calibri"/>
              </a:rPr>
              <a:t>Current scope: local text/Markdown collections with an index in memory.</a:t>
            </a:r>
          </a:p>
        </p:txBody>
      </p:sp>
    </p:spTree>
    <p:extLst>
      <p:ext uri="{BB962C8B-B14F-4D97-AF65-F5344CB8AC3E}">
        <p14:creationId xmlns:p14="http://schemas.microsoft.com/office/powerpoint/2010/main" val="15406750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1736F-F38B-4409-A1DD-6D853A5C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5D8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3155D8"/>
                </a:solidFill>
                <a:latin typeface="Calibri"/>
                <a:ea typeface="Calibri"/>
                <a:cs typeface="Calibri"/>
              </a:rPr>
              <a:t>DATA STRUCTURES AND ALGORITHMS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60004-3120-491A-8FE4-BCC2E927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33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22602-2249-4800-BCFA-822BEF24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18E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6718E"/>
                </a:solidFill>
                <a:latin typeface="Calibri"/>
                <a:ea typeface="Calibri"/>
                <a:cs typeface="Calibri"/>
              </a:rPr>
              <a:t>18 /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6186B-434F-4AFC-A41D-7654A2D9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[1] Information retrieval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9B468-855F-40C6-BB61-042D7084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Manning, Raghavan and Schütze (2008). Introduction to Information Retrieval. Stanford University Press.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CF022-C95E-42AA-9409-1680990D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[2] Ranking and [3] spelling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57402-444F-48C8-84B5-1866505D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Robertson and Zaragoza (2009). The Probabilistic Relevance Framework: BM25 and Beyond.</a:t>
            </a:r>
          </a:p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Burkhard and Keller (1973). Some Approaches to Best-Match File Searching.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B9D8B-ED32-4394-BE8D-534FB9B2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63"/>
                </a:solidFill>
                <a:latin typeface="Cambria"/>
                <a:ea typeface="Cambria"/>
                <a:cs typeface="Cambria"/>
              </a:defRPr>
            </a:pPr>
            <a:r>
              <a:rPr sz="2100" b="1">
                <a:solidFill>
                  <a:srgbClr val="202B63"/>
                </a:solidFill>
                <a:latin typeface="Cambria"/>
                <a:ea typeface="Cambria"/>
                <a:cs typeface="Cambria"/>
              </a:rPr>
              <a:t>Java and project materials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B657A-E9FF-4CFE-8DBD-869C9FA5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2B3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22B3B"/>
                </a:solidFill>
                <a:latin typeface="Calibri"/>
                <a:ea typeface="Calibri"/>
                <a:cs typeface="Calibri"/>
              </a:rPr>
              <a:t>Oracle Java documentation. Local Java source, datasets, verification suites, and the original Review 2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904964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2026-10-07T03:13:43.3730000Z</dcterms:created>
  <dcterms:modified xsi:type="dcterms:W3CDTF">2026-10-07T03:13:43.3740000Z</dcterms:modified>
</coreProperties>
</file>